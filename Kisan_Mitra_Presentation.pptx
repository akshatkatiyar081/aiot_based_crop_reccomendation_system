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-548640"/>
            <a:ext cx="2011680" cy="2011680"/>
          </a:xfrm>
          <a:prstGeom prst="ellipse">
            <a:avLst/>
          </a:prstGeom>
          <a:solidFill>
            <a:srgbClr val="40916C">
              <a:alpha val="40000"/>
            </a:srgbClr>
          </a:solidFill>
          <a:ln w="12700">
            <a:solidFill>
              <a:srgbClr val="40916C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3474720"/>
            <a:ext cx="2286000" cy="2286000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solidFill>
              <a:srgbClr val="40916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-457200"/>
            <a:ext cx="2926080" cy="2926080"/>
          </a:xfrm>
          <a:prstGeom prst="ellipse">
            <a:avLst/>
          </a:prstGeom>
          <a:solidFill>
            <a:srgbClr val="40916C">
              <a:alpha val="25000"/>
            </a:srgbClr>
          </a:solidFill>
          <a:ln w="12700">
            <a:solidFill>
              <a:srgbClr val="40916C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3200400"/>
            <a:ext cx="1828800" cy="1828800"/>
          </a:xfrm>
          <a:prstGeom prst="ellipse">
            <a:avLst/>
          </a:prstGeom>
          <a:solidFill>
            <a:srgbClr val="F4A261">
              <a:alpha val="20000"/>
            </a:srgbClr>
          </a:solidFill>
          <a:ln w="12700">
            <a:solidFill>
              <a:srgbClr val="F4A261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73152" cy="2286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12801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 Mitra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640080" y="21488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Smart Crop Recommendation System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2651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IoT • Machine Learning • Generative AI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320040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2004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Wokwi ESP32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1828800" y="320040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828800" y="32004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MQTT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017520" y="320040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17520" y="32004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206240" y="320040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06240" y="32004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Blynk IoT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943600" y="502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OF THINGS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5943600" y="1005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97880" y="1508760"/>
            <a:ext cx="2971800" cy="658368"/>
          </a:xfrm>
          <a:prstGeom prst="rect">
            <a:avLst/>
          </a:prstGeom>
          <a:solidFill>
            <a:srgbClr val="40916C">
              <a:alpha val="25000"/>
            </a:srgbClr>
          </a:solidFill>
          <a:ln w="12700">
            <a:solidFill>
              <a:srgbClr val="74C69D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897880" y="1508760"/>
            <a:ext cx="64008" cy="6583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35040" y="1572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Akshat Katiyar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035040" y="18470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E-272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897880" y="2313432"/>
            <a:ext cx="2971800" cy="658368"/>
          </a:xfrm>
          <a:prstGeom prst="rect">
            <a:avLst/>
          </a:prstGeom>
          <a:solidFill>
            <a:srgbClr val="40916C">
              <a:alpha val="25000"/>
            </a:srgbClr>
          </a:solidFill>
          <a:ln w="12700">
            <a:solidFill>
              <a:srgbClr val="74C69D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897880" y="2313432"/>
            <a:ext cx="64008" cy="6583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35040" y="2377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Meghashayam Pawar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035040" y="2651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E-301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897880" y="3118104"/>
            <a:ext cx="2971800" cy="658368"/>
          </a:xfrm>
          <a:prstGeom prst="rect">
            <a:avLst/>
          </a:prstGeom>
          <a:solidFill>
            <a:srgbClr val="40916C">
              <a:alpha val="25000"/>
            </a:srgbClr>
          </a:solidFill>
          <a:ln w="12700">
            <a:solidFill>
              <a:srgbClr val="74C69D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897880" y="3118104"/>
            <a:ext cx="64008" cy="6583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035040" y="31821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Saksham Hedaoo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035040" y="34564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E-297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AIoT Project Report  |  2025–2026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20116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1143000"/>
            <a:ext cx="39319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143000"/>
            <a:ext cx="393192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143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30352" y="1737360"/>
            <a:ext cx="347472" cy="347472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6479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1691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lack access to real-time soil &amp; weather data for informed crop selection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30352" y="2450592"/>
            <a:ext cx="347472" cy="347472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478024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24048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testing is expensive and unavailable to smallholder farmers in rural India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30352" y="3163824"/>
            <a:ext cx="347472" cy="347472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191256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05840" y="311810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combines IoT sensing, ML prediction, and AI advisory in one platform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530352" y="3877056"/>
            <a:ext cx="347472" cy="347472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904488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05840" y="383133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crop selection leads to yield loss and direct financial damage to families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4846320" y="1143000"/>
            <a:ext cx="39319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4846320" y="1143000"/>
            <a:ext cx="3931920" cy="4114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4846320" y="1143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OBJECTIVES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5029200" y="1728216"/>
            <a:ext cx="256032" cy="2560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5029200" y="1728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539496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real IoT farm sensors using Wokwi ESP32 with DHT22 + potentiometers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5029200" y="2304288"/>
            <a:ext cx="256032" cy="2560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5029200" y="2304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5394960" y="22677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sensor data securely via MQTT TLS to HiveMQ Cloud broker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5029200" y="2880360"/>
            <a:ext cx="256032" cy="2560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5029200" y="28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5394960" y="284378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best crops using a trained Random Forest ML classifier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5029200" y="3456432"/>
            <a:ext cx="256032" cy="2560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5029200" y="3456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5394960" y="341985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cost-aware recommendations via Google Gemini 2.5 Flash AI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5029200" y="4032504"/>
            <a:ext cx="256032" cy="2560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5029200" y="4032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5394960" y="39959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live data on both a Web dashboard and Blynk IoT mobile app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868680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20116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IoT Pipeline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1508760" cy="237744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86968" y="1234440"/>
            <a:ext cx="658368" cy="65836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1298448"/>
            <a:ext cx="530352" cy="53035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75488" y="1115568"/>
            <a:ext cx="320040" cy="3200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75488" y="1115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57200" y="193852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Wokwi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25146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 + 5 Pots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800ms publish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1965960" y="2249424"/>
            <a:ext cx="164592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084832" y="2176272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176272" y="1097280"/>
            <a:ext cx="1508760" cy="23774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606040" y="1234440"/>
            <a:ext cx="658368" cy="65836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0048" y="1298448"/>
            <a:ext cx="530352" cy="53035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2194560" y="1115568"/>
            <a:ext cx="320040" cy="3200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2194560" y="1115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2176272" y="193852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2176272" y="25146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TLS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8883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3685032" y="2249424"/>
            <a:ext cx="164592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803904" y="2176272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895344" y="1097280"/>
            <a:ext cx="1508760" cy="23774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325112" y="1234440"/>
            <a:ext cx="658368" cy="65836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298448"/>
            <a:ext cx="530352" cy="53035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3913632" y="1115568"/>
            <a:ext cx="320040" cy="3200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3913632" y="1115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3895344" y="193852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3895344" y="25146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Subscriber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5404104" y="2249424"/>
            <a:ext cx="164592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522976" y="2176272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5614416" y="1097280"/>
            <a:ext cx="1508760" cy="237744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044184" y="1234440"/>
            <a:ext cx="658368" cy="65836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1298448"/>
            <a:ext cx="530352" cy="530352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5632704" y="1115568"/>
            <a:ext cx="320040" cy="3200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5632704" y="1115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5614416" y="193852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AI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5614416" y="25146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Gemini 2.5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7123176" y="2249424"/>
            <a:ext cx="164592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7242048" y="2176272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7333488" y="1097280"/>
            <a:ext cx="1508760" cy="23774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7763256" y="1234440"/>
            <a:ext cx="658368" cy="65836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7264" y="1298448"/>
            <a:ext cx="530352" cy="530352"/>
          </a:xfrm>
          <a:prstGeom prst="rect">
            <a:avLst/>
          </a:prstGeom>
        </p:spPr>
      </p:pic>
      <p:sp>
        <p:nvSpPr>
          <p:cNvPr id="44" name="Shape 36"/>
          <p:cNvSpPr/>
          <p:nvPr/>
        </p:nvSpPr>
        <p:spPr>
          <a:xfrm>
            <a:off x="7351776" y="1115568"/>
            <a:ext cx="320040" cy="3200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7351776" y="1115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6" name="Text 38"/>
          <p:cNvSpPr/>
          <p:nvPr/>
        </p:nvSpPr>
        <p:spPr>
          <a:xfrm>
            <a:off x="7333488" y="193852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47" name="Text 39"/>
          <p:cNvSpPr/>
          <p:nvPr/>
        </p:nvSpPr>
        <p:spPr>
          <a:xfrm>
            <a:off x="7333488" y="25146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Blynk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Updates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365760" y="3657600"/>
            <a:ext cx="8412480" cy="1188720"/>
          </a:xfrm>
          <a:prstGeom prst="rect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502920" y="3730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PARAMETERS</a:t>
            </a:r>
            <a:endParaRPr lang="en-US" sz="850" dirty="0"/>
          </a:p>
        </p:txBody>
      </p:sp>
      <p:sp>
        <p:nvSpPr>
          <p:cNvPr id="50" name="Text 42"/>
          <p:cNvSpPr/>
          <p:nvPr/>
        </p:nvSpPr>
        <p:spPr>
          <a:xfrm>
            <a:off x="502920" y="402336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 Temperature</a:t>
            </a:r>
            <a:endParaRPr lang="en-US" sz="1000" dirty="0"/>
          </a:p>
        </p:txBody>
      </p:sp>
      <p:sp>
        <p:nvSpPr>
          <p:cNvPr id="51" name="Text 43"/>
          <p:cNvSpPr/>
          <p:nvPr/>
        </p:nvSpPr>
        <p:spPr>
          <a:xfrm>
            <a:off x="1691640" y="402336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Humidity</a:t>
            </a:r>
            <a:endParaRPr lang="en-US" sz="1000" dirty="0"/>
          </a:p>
        </p:txBody>
      </p:sp>
      <p:sp>
        <p:nvSpPr>
          <p:cNvPr id="52" name="Text 44"/>
          <p:cNvSpPr/>
          <p:nvPr/>
        </p:nvSpPr>
        <p:spPr>
          <a:xfrm>
            <a:off x="2880360" y="402336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Nitrogen (N)</a:t>
            </a:r>
            <a:endParaRPr lang="en-US" sz="1000" dirty="0"/>
          </a:p>
        </p:txBody>
      </p:sp>
      <p:sp>
        <p:nvSpPr>
          <p:cNvPr id="53" name="Text 45"/>
          <p:cNvSpPr/>
          <p:nvPr/>
        </p:nvSpPr>
        <p:spPr>
          <a:xfrm>
            <a:off x="4069080" y="402336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⚗ Phosphorus (P)</a:t>
            </a:r>
            <a:endParaRPr lang="en-US" sz="1000" dirty="0"/>
          </a:p>
        </p:txBody>
      </p:sp>
      <p:sp>
        <p:nvSpPr>
          <p:cNvPr id="54" name="Text 46"/>
          <p:cNvSpPr/>
          <p:nvPr/>
        </p:nvSpPr>
        <p:spPr>
          <a:xfrm>
            <a:off x="5257800" y="402336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Potassium (K)</a:t>
            </a:r>
            <a:endParaRPr lang="en-US" sz="1000" dirty="0"/>
          </a:p>
        </p:txBody>
      </p:sp>
      <p:sp>
        <p:nvSpPr>
          <p:cNvPr id="55" name="Text 47"/>
          <p:cNvSpPr/>
          <p:nvPr/>
        </p:nvSpPr>
        <p:spPr>
          <a:xfrm>
            <a:off x="6446520" y="402336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Soil pH</a:t>
            </a:r>
            <a:endParaRPr lang="en-US" sz="1000" dirty="0"/>
          </a:p>
        </p:txBody>
      </p:sp>
      <p:sp>
        <p:nvSpPr>
          <p:cNvPr id="56" name="Text 48"/>
          <p:cNvSpPr/>
          <p:nvPr/>
        </p:nvSpPr>
        <p:spPr>
          <a:xfrm>
            <a:off x="7635240" y="402336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🌧 Rainfall</a:t>
            </a:r>
            <a:endParaRPr lang="en-US" sz="1000" dirty="0"/>
          </a:p>
        </p:txBody>
      </p:sp>
      <p:sp>
        <p:nvSpPr>
          <p:cNvPr id="57" name="Text 49"/>
          <p:cNvSpPr/>
          <p:nvPr/>
        </p:nvSpPr>
        <p:spPr>
          <a:xfrm>
            <a:off x="868680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20116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&amp; Gemini AI Engine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109728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097280"/>
            <a:ext cx="4023360" cy="4572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6112" y="1097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38912" y="1609344"/>
            <a:ext cx="1115568" cy="1005840"/>
          </a:xfrm>
          <a:prstGeom prst="rect">
            <a:avLst/>
          </a:prstGeom>
          <a:solidFill>
            <a:srgbClr val="F8FAF9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38912" y="1609344"/>
            <a:ext cx="1115568" cy="54864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38912" y="1664208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3200" dirty="0"/>
          </a:p>
        </p:txBody>
      </p:sp>
      <p:sp>
        <p:nvSpPr>
          <p:cNvPr id="12" name="Text 8"/>
          <p:cNvSpPr/>
          <p:nvPr/>
        </p:nvSpPr>
        <p:spPr>
          <a:xfrm>
            <a:off x="438912" y="2231136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Classes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1645920" y="1609344"/>
            <a:ext cx="1115568" cy="1005840"/>
          </a:xfrm>
          <a:prstGeom prst="rect">
            <a:avLst/>
          </a:prstGeom>
          <a:solidFill>
            <a:srgbClr val="F8FAF9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645920" y="1609344"/>
            <a:ext cx="1115568" cy="54864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645920" y="1664208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2,200</a:t>
            </a:r>
            <a:endParaRPr lang="en-US" sz="3200" dirty="0"/>
          </a:p>
        </p:txBody>
      </p:sp>
      <p:sp>
        <p:nvSpPr>
          <p:cNvPr id="16" name="Text 12"/>
          <p:cNvSpPr/>
          <p:nvPr/>
        </p:nvSpPr>
        <p:spPr>
          <a:xfrm>
            <a:off x="1645920" y="2231136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Records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2852928" y="1609344"/>
            <a:ext cx="1115568" cy="1005840"/>
          </a:xfrm>
          <a:prstGeom prst="rect">
            <a:avLst/>
          </a:prstGeom>
          <a:solidFill>
            <a:srgbClr val="F8FAF9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852928" y="1609344"/>
            <a:ext cx="1115568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852928" y="1664208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5ms</a:t>
            </a:r>
            <a:endParaRPr lang="en-US" sz="3200" dirty="0"/>
          </a:p>
        </p:txBody>
      </p:sp>
      <p:sp>
        <p:nvSpPr>
          <p:cNvPr id="20" name="Text 16"/>
          <p:cNvSpPr/>
          <p:nvPr/>
        </p:nvSpPr>
        <p:spPr>
          <a:xfrm>
            <a:off x="2852928" y="2231136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Time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548640" y="3090672"/>
            <a:ext cx="3639312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30352" y="3200400"/>
            <a:ext cx="146304" cy="146304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68096" y="314553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normalizes all 7 features to zero mean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30352" y="3547872"/>
            <a:ext cx="146304" cy="146304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68096" y="349300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probability scores for all 22 crops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530352" y="3895344"/>
            <a:ext cx="146304" cy="146304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68096" y="38404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crops passed to Gemini for final ranking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530352" y="4242816"/>
            <a:ext cx="146304" cy="146304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68096" y="418795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values averaged over 3.5s to reduce noise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754880" y="109728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4754880" y="1097280"/>
            <a:ext cx="4023360" cy="4572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896" y="1170432"/>
            <a:ext cx="310896" cy="310896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266944" y="1097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2.5 FLASH AI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4892040" y="1664208"/>
            <a:ext cx="1783080" cy="2926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4892040" y="166420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4983480" y="2029968"/>
            <a:ext cx="137160" cy="13716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5184648" y="19751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ML crops + confidence %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4983480" y="2377440"/>
            <a:ext cx="137160" cy="13716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5184648" y="23225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region &amp; field area (ha)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4983480" y="2724912"/>
            <a:ext cx="137160" cy="13716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184648" y="26700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month, season, date</a:t>
            </a:r>
            <a:endParaRPr lang="en-US" sz="950" dirty="0"/>
          </a:p>
        </p:txBody>
      </p:sp>
      <p:sp>
        <p:nvSpPr>
          <p:cNvPr id="42" name="Shape 37"/>
          <p:cNvSpPr/>
          <p:nvPr/>
        </p:nvSpPr>
        <p:spPr>
          <a:xfrm>
            <a:off x="4983480" y="3072384"/>
            <a:ext cx="137160" cy="13716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5184648" y="30175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5 crops (rotation history)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6858000" y="1664208"/>
            <a:ext cx="1783080" cy="2926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6858000" y="166420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46" name="Shape 41"/>
          <p:cNvSpPr/>
          <p:nvPr/>
        </p:nvSpPr>
        <p:spPr>
          <a:xfrm>
            <a:off x="6949440" y="2029968"/>
            <a:ext cx="137160" cy="1371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7150608" y="19751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ranked crop recommendations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6949440" y="2377440"/>
            <a:ext cx="137160" cy="1371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150608" y="23225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Farmer-friendly reason (2-3 lines)</a:t>
            </a:r>
            <a:endParaRPr lang="en-US" sz="950" dirty="0"/>
          </a:p>
        </p:txBody>
      </p:sp>
      <p:sp>
        <p:nvSpPr>
          <p:cNvPr id="50" name="Shape 45"/>
          <p:cNvSpPr/>
          <p:nvPr/>
        </p:nvSpPr>
        <p:spPr>
          <a:xfrm>
            <a:off x="6949440" y="2724912"/>
            <a:ext cx="137160" cy="1371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7150608" y="26700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Planting cost per hectare in INR</a:t>
            </a:r>
            <a:endParaRPr lang="en-US" sz="950" dirty="0"/>
          </a:p>
        </p:txBody>
      </p:sp>
      <p:sp>
        <p:nvSpPr>
          <p:cNvPr id="52" name="Shape 47"/>
          <p:cNvSpPr/>
          <p:nvPr/>
        </p:nvSpPr>
        <p:spPr>
          <a:xfrm>
            <a:off x="6949440" y="3072384"/>
            <a:ext cx="137160" cy="1371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7150608" y="30175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timeline &amp; optimal month</a:t>
            </a:r>
            <a:endParaRPr lang="en-US" sz="950" dirty="0"/>
          </a:p>
        </p:txBody>
      </p:sp>
      <p:sp>
        <p:nvSpPr>
          <p:cNvPr id="54" name="Shape 49"/>
          <p:cNvSpPr/>
          <p:nvPr/>
        </p:nvSpPr>
        <p:spPr>
          <a:xfrm>
            <a:off x="4846320" y="3456432"/>
            <a:ext cx="3840480" cy="1234440"/>
          </a:xfrm>
          <a:prstGeom prst="rect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4983480" y="351129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FEATURES</a:t>
            </a:r>
            <a:endParaRPr lang="en-US" sz="850" dirty="0"/>
          </a:p>
        </p:txBody>
      </p:sp>
      <p:pic>
        <p:nvPicPr>
          <p:cNvPr id="5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785616"/>
            <a:ext cx="164592" cy="164592"/>
          </a:xfrm>
          <a:prstGeom prst="rect">
            <a:avLst/>
          </a:prstGeom>
        </p:spPr>
      </p:pic>
      <p:sp>
        <p:nvSpPr>
          <p:cNvPr id="57" name="Text 51"/>
          <p:cNvSpPr/>
          <p:nvPr/>
        </p:nvSpPr>
        <p:spPr>
          <a:xfrm>
            <a:off x="5230368" y="37581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API keys in round-robin rotation</a:t>
            </a:r>
            <a:endParaRPr lang="en-US" sz="950" dirty="0"/>
          </a:p>
        </p:txBody>
      </p:sp>
      <p:pic>
        <p:nvPicPr>
          <p:cNvPr id="5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995928"/>
            <a:ext cx="164592" cy="164592"/>
          </a:xfrm>
          <a:prstGeom prst="rect">
            <a:avLst/>
          </a:prstGeom>
        </p:spPr>
      </p:pic>
      <p:sp>
        <p:nvSpPr>
          <p:cNvPr id="59" name="Text 52"/>
          <p:cNvSpPr/>
          <p:nvPr/>
        </p:nvSpPr>
        <p:spPr>
          <a:xfrm>
            <a:off x="5230368" y="39684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Auto-switch on rate limit (429)</a:t>
            </a:r>
            <a:endParaRPr lang="en-US" sz="950" dirty="0"/>
          </a:p>
        </p:txBody>
      </p:sp>
      <p:pic>
        <p:nvPicPr>
          <p:cNvPr id="6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4206240"/>
            <a:ext cx="164592" cy="164592"/>
          </a:xfrm>
          <a:prstGeom prst="rect">
            <a:avLst/>
          </a:prstGeom>
        </p:spPr>
      </p:pic>
      <p:sp>
        <p:nvSpPr>
          <p:cNvPr id="61" name="Text 53"/>
          <p:cNvSpPr/>
          <p:nvPr/>
        </p:nvSpPr>
        <p:spPr>
          <a:xfrm>
            <a:off x="5230368" y="41788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fallback to top ML crop</a:t>
            </a:r>
            <a:endParaRPr lang="en-US" sz="950" dirty="0"/>
          </a:p>
        </p:txBody>
      </p:sp>
      <p:pic>
        <p:nvPicPr>
          <p:cNvPr id="6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4416552"/>
            <a:ext cx="164592" cy="164592"/>
          </a:xfrm>
          <a:prstGeom prst="rect">
            <a:avLst/>
          </a:prstGeom>
        </p:spPr>
      </p:pic>
      <p:sp>
        <p:nvSpPr>
          <p:cNvPr id="63" name="Text 54"/>
          <p:cNvSpPr/>
          <p:nvPr/>
        </p:nvSpPr>
        <p:spPr>
          <a:xfrm>
            <a:off x="5230368" y="43891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rotation enforcement via SQLite</a:t>
            </a:r>
            <a:endParaRPr lang="en-US" sz="950" dirty="0"/>
          </a:p>
        </p:txBody>
      </p:sp>
      <p:sp>
        <p:nvSpPr>
          <p:cNvPr id="64" name="Text 55"/>
          <p:cNvSpPr/>
          <p:nvPr/>
        </p:nvSpPr>
        <p:spPr>
          <a:xfrm>
            <a:off x="868680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20116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Dashboards — Web &amp; Blynk IoT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1078992"/>
            <a:ext cx="3931920" cy="3749040"/>
          </a:xfrm>
          <a:prstGeom prst="rect">
            <a:avLst/>
          </a:prstGeom>
          <a:solidFill>
            <a:srgbClr val="1E3A2F"/>
          </a:solidFill>
          <a:ln w="1270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078992"/>
            <a:ext cx="3931920" cy="4114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0789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 DASHBOARD  (localhost:5000)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00200"/>
            <a:ext cx="3611880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40916C">
                <a:alpha val="30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5506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32688" y="161848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login &amp; registration (bcrypt auth)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02920" y="2075688"/>
            <a:ext cx="3611880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40916C">
                <a:alpha val="3000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3055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32688" y="20939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sensor panel — 7 parameters updating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502920" y="2551176"/>
            <a:ext cx="3611880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40916C">
                <a:alpha val="30000"/>
              </a:srgbClr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606040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32688" y="256946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 form with region &amp; area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502920" y="3026664"/>
            <a:ext cx="3611880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40916C">
                <a:alpha val="30000"/>
              </a:srgbClr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081528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32688" y="304495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crops with reasons, cost &amp; timeline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502920" y="3502152"/>
            <a:ext cx="3611880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40916C">
                <a:alpha val="30000"/>
              </a:srgbClr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557016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932688" y="35204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history with delete for rotation mgmt</a:t>
            </a:r>
            <a:endParaRPr lang="en-US" sz="1050" dirty="0"/>
          </a:p>
        </p:txBody>
      </p:sp>
      <p:sp>
        <p:nvSpPr>
          <p:cNvPr id="23" name="Shape 15"/>
          <p:cNvSpPr/>
          <p:nvPr/>
        </p:nvSpPr>
        <p:spPr>
          <a:xfrm>
            <a:off x="502920" y="3977640"/>
            <a:ext cx="3611880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40916C">
                <a:alpha val="30000"/>
              </a:srgbClr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4032504"/>
            <a:ext cx="256032" cy="25603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32688" y="399592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tag shows 'wokwi' vs 'simulated'</a:t>
            </a:r>
            <a:endParaRPr lang="en-US" sz="1050" dirty="0"/>
          </a:p>
        </p:txBody>
      </p:sp>
      <p:sp>
        <p:nvSpPr>
          <p:cNvPr id="26" name="Shape 17"/>
          <p:cNvSpPr/>
          <p:nvPr/>
        </p:nvSpPr>
        <p:spPr>
          <a:xfrm>
            <a:off x="4846320" y="1078992"/>
            <a:ext cx="3931920" cy="3749040"/>
          </a:xfrm>
          <a:prstGeom prst="rect">
            <a:avLst/>
          </a:prstGeom>
          <a:solidFill>
            <a:srgbClr val="1A2940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18"/>
          <p:cNvSpPr/>
          <p:nvPr/>
        </p:nvSpPr>
        <p:spPr>
          <a:xfrm>
            <a:off x="4846320" y="1078992"/>
            <a:ext cx="3931920" cy="4114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8" name="Text 19"/>
          <p:cNvSpPr/>
          <p:nvPr/>
        </p:nvSpPr>
        <p:spPr>
          <a:xfrm>
            <a:off x="4846320" y="10789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BLYNK IOT DASHBOARD</a:t>
            </a:r>
            <a:endParaRPr lang="en-US" sz="1050" dirty="0"/>
          </a:p>
        </p:txBody>
      </p:sp>
      <p:sp>
        <p:nvSpPr>
          <p:cNvPr id="29" name="Shape 20"/>
          <p:cNvSpPr/>
          <p:nvPr/>
        </p:nvSpPr>
        <p:spPr>
          <a:xfrm>
            <a:off x="4983480" y="1600200"/>
            <a:ext cx="1737360" cy="896112"/>
          </a:xfrm>
          <a:prstGeom prst="rect">
            <a:avLst/>
          </a:prstGeom>
          <a:solidFill>
            <a:srgbClr val="40916C">
              <a:alpha val="70000"/>
            </a:srgbClr>
          </a:solidFill>
          <a:ln w="12700">
            <a:solidFill>
              <a:srgbClr val="40916C">
                <a:alpha val="8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1"/>
          <p:cNvSpPr/>
          <p:nvPr/>
        </p:nvSpPr>
        <p:spPr>
          <a:xfrm>
            <a:off x="5056632" y="1655064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V0–V6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5056632" y="1847088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Gauge Widgets</a:t>
            </a:r>
            <a:endParaRPr lang="en-US" sz="1000" dirty="0"/>
          </a:p>
        </p:txBody>
      </p:sp>
      <p:sp>
        <p:nvSpPr>
          <p:cNvPr id="32" name="Text 23"/>
          <p:cNvSpPr/>
          <p:nvPr/>
        </p:nvSpPr>
        <p:spPr>
          <a:xfrm>
            <a:off x="5056632" y="2057400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N, P, K, Temp,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Hum, pH, Rainfall</a:t>
            </a:r>
            <a:endParaRPr lang="en-US" sz="850" dirty="0"/>
          </a:p>
        </p:txBody>
      </p:sp>
      <p:sp>
        <p:nvSpPr>
          <p:cNvPr id="33" name="Shape 24"/>
          <p:cNvSpPr/>
          <p:nvPr/>
        </p:nvSpPr>
        <p:spPr>
          <a:xfrm>
            <a:off x="6858000" y="1600200"/>
            <a:ext cx="1737360" cy="896112"/>
          </a:xfrm>
          <a:prstGeom prst="rect">
            <a:avLst/>
          </a:prstGeom>
          <a:solidFill>
            <a:srgbClr val="2D6A4F">
              <a:alpha val="70000"/>
            </a:srgbClr>
          </a:solidFill>
          <a:ln w="12700">
            <a:solidFill>
              <a:srgbClr val="2D6A4F">
                <a:alpha val="8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25"/>
          <p:cNvSpPr/>
          <p:nvPr/>
        </p:nvSpPr>
        <p:spPr>
          <a:xfrm>
            <a:off x="6931152" y="1655064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6931152" y="1847088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Crop Name</a:t>
            </a:r>
            <a:endParaRPr lang="en-US" sz="1000" dirty="0"/>
          </a:p>
        </p:txBody>
      </p:sp>
      <p:sp>
        <p:nvSpPr>
          <p:cNvPr id="36" name="Text 27"/>
          <p:cNvSpPr/>
          <p:nvPr/>
        </p:nvSpPr>
        <p:spPr>
          <a:xfrm>
            <a:off x="6931152" y="2057400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AI-recommended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label</a:t>
            </a:r>
            <a:endParaRPr lang="en-US" sz="850" dirty="0"/>
          </a:p>
        </p:txBody>
      </p:sp>
      <p:sp>
        <p:nvSpPr>
          <p:cNvPr id="37" name="Shape 28"/>
          <p:cNvSpPr/>
          <p:nvPr/>
        </p:nvSpPr>
        <p:spPr>
          <a:xfrm>
            <a:off x="4983480" y="2624328"/>
            <a:ext cx="1737360" cy="896112"/>
          </a:xfrm>
          <a:prstGeom prst="rect">
            <a:avLst/>
          </a:prstGeom>
          <a:solidFill>
            <a:srgbClr val="2D6A4F">
              <a:alpha val="70000"/>
            </a:srgbClr>
          </a:solidFill>
          <a:ln w="12700">
            <a:solidFill>
              <a:srgbClr val="2D6A4F">
                <a:alpha val="8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29"/>
          <p:cNvSpPr/>
          <p:nvPr/>
        </p:nvSpPr>
        <p:spPr>
          <a:xfrm>
            <a:off x="5056632" y="267919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5056632" y="2871216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Reason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5056632" y="3081528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(90 chars)</a:t>
            </a:r>
            <a:endParaRPr lang="en-US" sz="850" dirty="0"/>
          </a:p>
        </p:txBody>
      </p:sp>
      <p:sp>
        <p:nvSpPr>
          <p:cNvPr id="41" name="Shape 32"/>
          <p:cNvSpPr/>
          <p:nvPr/>
        </p:nvSpPr>
        <p:spPr>
          <a:xfrm>
            <a:off x="6858000" y="2624328"/>
            <a:ext cx="1737360" cy="896112"/>
          </a:xfrm>
          <a:prstGeom prst="rect">
            <a:avLst/>
          </a:prstGeom>
          <a:solidFill>
            <a:srgbClr val="2D6A4F">
              <a:alpha val="70000"/>
            </a:srgbClr>
          </a:solidFill>
          <a:ln w="12700">
            <a:solidFill>
              <a:srgbClr val="2D6A4F">
                <a:alpha val="8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33"/>
          <p:cNvSpPr/>
          <p:nvPr/>
        </p:nvSpPr>
        <p:spPr>
          <a:xfrm>
            <a:off x="6931152" y="267919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V9</a:t>
            </a:r>
            <a:endParaRPr lang="en-US" sz="900" dirty="0"/>
          </a:p>
        </p:txBody>
      </p:sp>
      <p:sp>
        <p:nvSpPr>
          <p:cNvPr id="43" name="Text 34"/>
          <p:cNvSpPr/>
          <p:nvPr/>
        </p:nvSpPr>
        <p:spPr>
          <a:xfrm>
            <a:off x="6931152" y="2871216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Estimate</a:t>
            </a:r>
            <a:endParaRPr lang="en-US" sz="1000" dirty="0"/>
          </a:p>
        </p:txBody>
      </p:sp>
      <p:sp>
        <p:nvSpPr>
          <p:cNvPr id="44" name="Text 35"/>
          <p:cNvSpPr/>
          <p:nvPr/>
        </p:nvSpPr>
        <p:spPr>
          <a:xfrm>
            <a:off x="6931152" y="3081528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INR/hectare &amp;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duration</a:t>
            </a:r>
            <a:endParaRPr lang="en-US" sz="850" dirty="0"/>
          </a:p>
        </p:txBody>
      </p:sp>
      <p:sp>
        <p:nvSpPr>
          <p:cNvPr id="45" name="Shape 36"/>
          <p:cNvSpPr/>
          <p:nvPr/>
        </p:nvSpPr>
        <p:spPr>
          <a:xfrm>
            <a:off x="4983480" y="3648456"/>
            <a:ext cx="1737360" cy="896112"/>
          </a:xfrm>
          <a:prstGeom prst="rect">
            <a:avLst/>
          </a:prstGeom>
          <a:solidFill>
            <a:srgbClr val="E76F51">
              <a:alpha val="70000"/>
            </a:srgbClr>
          </a:solidFill>
          <a:ln w="12700">
            <a:solidFill>
              <a:srgbClr val="E76F51">
                <a:alpha val="8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37"/>
          <p:cNvSpPr/>
          <p:nvPr/>
        </p:nvSpPr>
        <p:spPr>
          <a:xfrm>
            <a:off x="5056632" y="3703320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V10–V11</a:t>
            </a:r>
            <a:endParaRPr lang="en-US" sz="900" dirty="0"/>
          </a:p>
        </p:txBody>
      </p:sp>
      <p:sp>
        <p:nvSpPr>
          <p:cNvPr id="47" name="Text 38"/>
          <p:cNvSpPr/>
          <p:nvPr/>
        </p:nvSpPr>
        <p:spPr>
          <a:xfrm>
            <a:off x="5056632" y="3895344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 2 &amp; 3</a:t>
            </a:r>
            <a:endParaRPr lang="en-US" sz="1000" dirty="0"/>
          </a:p>
        </p:txBody>
      </p:sp>
      <p:sp>
        <p:nvSpPr>
          <p:cNvPr id="48" name="Text 39"/>
          <p:cNvSpPr/>
          <p:nvPr/>
        </p:nvSpPr>
        <p:spPr>
          <a:xfrm>
            <a:off x="5056632" y="4105656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and 3rd ranked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names</a:t>
            </a:r>
            <a:endParaRPr lang="en-US" sz="850" dirty="0"/>
          </a:p>
        </p:txBody>
      </p:sp>
      <p:sp>
        <p:nvSpPr>
          <p:cNvPr id="49" name="Shape 40"/>
          <p:cNvSpPr/>
          <p:nvPr/>
        </p:nvSpPr>
        <p:spPr>
          <a:xfrm>
            <a:off x="6858000" y="3648456"/>
            <a:ext cx="1737360" cy="896112"/>
          </a:xfrm>
          <a:prstGeom prst="rect">
            <a:avLst/>
          </a:prstGeom>
          <a:solidFill>
            <a:srgbClr val="6B8F71">
              <a:alpha val="70000"/>
            </a:srgbClr>
          </a:solidFill>
          <a:ln w="12700">
            <a:solidFill>
              <a:srgbClr val="6B8F71">
                <a:alpha val="8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1"/>
          <p:cNvSpPr/>
          <p:nvPr/>
        </p:nvSpPr>
        <p:spPr>
          <a:xfrm>
            <a:off x="6931152" y="3703320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V12</a:t>
            </a:r>
            <a:endParaRPr lang="en-US" sz="900" dirty="0"/>
          </a:p>
        </p:txBody>
      </p:sp>
      <p:sp>
        <p:nvSpPr>
          <p:cNvPr id="51" name="Text 42"/>
          <p:cNvSpPr/>
          <p:nvPr/>
        </p:nvSpPr>
        <p:spPr>
          <a:xfrm>
            <a:off x="6931152" y="3895344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Updated</a:t>
            </a:r>
            <a:endParaRPr lang="en-US" sz="1000" dirty="0"/>
          </a:p>
        </p:txBody>
      </p:sp>
      <p:sp>
        <p:nvSpPr>
          <p:cNvPr id="52" name="Text 43"/>
          <p:cNvSpPr/>
          <p:nvPr/>
        </p:nvSpPr>
        <p:spPr>
          <a:xfrm>
            <a:off x="6931152" y="4105656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of last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message</a:t>
            </a:r>
            <a:endParaRPr lang="en-US" sz="850" dirty="0"/>
          </a:p>
        </p:txBody>
      </p:sp>
      <p:sp>
        <p:nvSpPr>
          <p:cNvPr id="53" name="Text 44"/>
          <p:cNvSpPr/>
          <p:nvPr/>
        </p:nvSpPr>
        <p:spPr>
          <a:xfrm>
            <a:off x="868680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20116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&amp; Project Impact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1078992"/>
            <a:ext cx="1938528" cy="15087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152144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1508760"/>
            <a:ext cx="1938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800ms</a:t>
            </a:r>
            <a:endParaRPr lang="en-US" sz="3800" dirty="0"/>
          </a:p>
        </p:txBody>
      </p:sp>
      <p:sp>
        <p:nvSpPr>
          <p:cNvPr id="8" name="Text 4"/>
          <p:cNvSpPr/>
          <p:nvPr/>
        </p:nvSpPr>
        <p:spPr>
          <a:xfrm>
            <a:off x="365760" y="2084832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Publish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from Wokwi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2487168" y="1078992"/>
            <a:ext cx="1938528" cy="15087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1152144"/>
            <a:ext cx="384048" cy="3840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487168" y="1508760"/>
            <a:ext cx="1938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5s</a:t>
            </a:r>
            <a:endParaRPr lang="en-US" sz="3800" dirty="0"/>
          </a:p>
        </p:txBody>
      </p:sp>
      <p:sp>
        <p:nvSpPr>
          <p:cNvPr id="12" name="Text 7"/>
          <p:cNvSpPr/>
          <p:nvPr/>
        </p:nvSpPr>
        <p:spPr>
          <a:xfrm>
            <a:off x="2487168" y="2084832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4608576" y="1078992"/>
            <a:ext cx="1938528" cy="15087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1152144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08576" y="1508760"/>
            <a:ext cx="1938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3800" dirty="0"/>
          </a:p>
        </p:txBody>
      </p:sp>
      <p:sp>
        <p:nvSpPr>
          <p:cNvPr id="16" name="Text 10"/>
          <p:cNvSpPr/>
          <p:nvPr/>
        </p:nvSpPr>
        <p:spPr>
          <a:xfrm>
            <a:off x="4608576" y="2084832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Classes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6729984" y="1078992"/>
            <a:ext cx="1938528" cy="15087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3136" y="1152144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729984" y="1508760"/>
            <a:ext cx="1938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20" name="Text 13"/>
          <p:cNvSpPr/>
          <p:nvPr/>
        </p:nvSpPr>
        <p:spPr>
          <a:xfrm>
            <a:off x="6729984" y="2084832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(Web + Blynk)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365760" y="2788920"/>
            <a:ext cx="2697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365760" y="2788920"/>
            <a:ext cx="269748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834640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04672" y="278892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Pipeline Verified</a:t>
            </a:r>
            <a:endParaRPr lang="en-US" sz="1050" dirty="0"/>
          </a:p>
        </p:txBody>
      </p:sp>
      <p:sp>
        <p:nvSpPr>
          <p:cNvPr id="25" name="Shape 17"/>
          <p:cNvSpPr/>
          <p:nvPr/>
        </p:nvSpPr>
        <p:spPr>
          <a:xfrm>
            <a:off x="502920" y="3273552"/>
            <a:ext cx="118872" cy="118872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694944" y="321868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Wokwi ESP32 publishes JSON every 800ms</a:t>
            </a:r>
            <a:endParaRPr lang="en-US" sz="950" dirty="0"/>
          </a:p>
        </p:txBody>
      </p:sp>
      <p:sp>
        <p:nvSpPr>
          <p:cNvPr id="27" name="Shape 19"/>
          <p:cNvSpPr/>
          <p:nvPr/>
        </p:nvSpPr>
        <p:spPr>
          <a:xfrm>
            <a:off x="502920" y="3639312"/>
            <a:ext cx="118872" cy="118872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694944" y="35844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live on HiveMQ Web Client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502920" y="4005072"/>
            <a:ext cx="118872" cy="118872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694944" y="39502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Potentiometer dials change values in real-time</a:t>
            </a: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502920" y="4370832"/>
            <a:ext cx="118872" cy="118872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94944" y="43159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field shows 'wokwi' vs 'simulated'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3246120" y="2788920"/>
            <a:ext cx="2697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3246120" y="2788920"/>
            <a:ext cx="269748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2834640"/>
            <a:ext cx="274320" cy="27432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3685032" y="278892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Quality &amp; Reliability</a:t>
            </a:r>
            <a:endParaRPr lang="en-US" sz="1050" dirty="0"/>
          </a:p>
        </p:txBody>
      </p:sp>
      <p:sp>
        <p:nvSpPr>
          <p:cNvPr id="37" name="Shape 28"/>
          <p:cNvSpPr/>
          <p:nvPr/>
        </p:nvSpPr>
        <p:spPr>
          <a:xfrm>
            <a:off x="3383280" y="3273552"/>
            <a:ext cx="118872" cy="118872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3575304" y="321868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returns structured JSON every call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3383280" y="3639312"/>
            <a:ext cx="118872" cy="118872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3575304" y="35844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API keys prevent quota interruption</a:t>
            </a:r>
            <a:endParaRPr lang="en-US" sz="950" dirty="0"/>
          </a:p>
        </p:txBody>
      </p:sp>
      <p:sp>
        <p:nvSpPr>
          <p:cNvPr id="41" name="Shape 32"/>
          <p:cNvSpPr/>
          <p:nvPr/>
        </p:nvSpPr>
        <p:spPr>
          <a:xfrm>
            <a:off x="3383280" y="4005072"/>
            <a:ext cx="118872" cy="118872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3575304" y="39502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rotation enforced via SQLite history</a:t>
            </a:r>
            <a:endParaRPr lang="en-US" sz="950" dirty="0"/>
          </a:p>
        </p:txBody>
      </p:sp>
      <p:sp>
        <p:nvSpPr>
          <p:cNvPr id="43" name="Shape 34"/>
          <p:cNvSpPr/>
          <p:nvPr/>
        </p:nvSpPr>
        <p:spPr>
          <a:xfrm>
            <a:off x="3383280" y="4370832"/>
            <a:ext cx="118872" cy="118872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3575304" y="43159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ensures zero recommendation failure</a:t>
            </a:r>
            <a:endParaRPr lang="en-US" sz="950" dirty="0"/>
          </a:p>
        </p:txBody>
      </p:sp>
      <p:sp>
        <p:nvSpPr>
          <p:cNvPr id="45" name="Shape 36"/>
          <p:cNvSpPr/>
          <p:nvPr/>
        </p:nvSpPr>
        <p:spPr>
          <a:xfrm>
            <a:off x="6126480" y="2788920"/>
            <a:ext cx="2697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37"/>
          <p:cNvSpPr/>
          <p:nvPr/>
        </p:nvSpPr>
        <p:spPr>
          <a:xfrm>
            <a:off x="6126480" y="2788920"/>
            <a:ext cx="269748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2834640"/>
            <a:ext cx="274320" cy="274320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6565392" y="278892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Highlights</a:t>
            </a:r>
            <a:endParaRPr lang="en-US" sz="1050" dirty="0"/>
          </a:p>
        </p:txBody>
      </p:sp>
      <p:sp>
        <p:nvSpPr>
          <p:cNvPr id="49" name="Shape 39"/>
          <p:cNvSpPr/>
          <p:nvPr/>
        </p:nvSpPr>
        <p:spPr>
          <a:xfrm>
            <a:off x="6263640" y="3273552"/>
            <a:ext cx="118872" cy="118872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50" name="Text 40"/>
          <p:cNvSpPr/>
          <p:nvPr/>
        </p:nvSpPr>
        <p:spPr>
          <a:xfrm>
            <a:off x="6455664" y="321868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dashboard — Web + Blynk simultaneously</a:t>
            </a:r>
            <a:endParaRPr lang="en-US" sz="950" dirty="0"/>
          </a:p>
        </p:txBody>
      </p:sp>
      <p:sp>
        <p:nvSpPr>
          <p:cNvPr id="51" name="Shape 41"/>
          <p:cNvSpPr/>
          <p:nvPr/>
        </p:nvSpPr>
        <p:spPr>
          <a:xfrm>
            <a:off x="6263640" y="3639312"/>
            <a:ext cx="118872" cy="118872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52" name="Text 42"/>
          <p:cNvSpPr/>
          <p:nvPr/>
        </p:nvSpPr>
        <p:spPr>
          <a:xfrm>
            <a:off x="6455664" y="35844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output with INR per hectare</a:t>
            </a:r>
            <a:endParaRPr lang="en-US" sz="950" dirty="0"/>
          </a:p>
        </p:txBody>
      </p:sp>
      <p:sp>
        <p:nvSpPr>
          <p:cNvPr id="53" name="Shape 43"/>
          <p:cNvSpPr/>
          <p:nvPr/>
        </p:nvSpPr>
        <p:spPr>
          <a:xfrm>
            <a:off x="6263640" y="4005072"/>
            <a:ext cx="118872" cy="118872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54" name="Text 44"/>
          <p:cNvSpPr/>
          <p:nvPr/>
        </p:nvSpPr>
        <p:spPr>
          <a:xfrm>
            <a:off x="6455664" y="39502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fallback for offline resilience</a:t>
            </a:r>
            <a:endParaRPr lang="en-US" sz="950" dirty="0"/>
          </a:p>
        </p:txBody>
      </p:sp>
      <p:sp>
        <p:nvSpPr>
          <p:cNvPr id="55" name="Shape 45"/>
          <p:cNvSpPr/>
          <p:nvPr/>
        </p:nvSpPr>
        <p:spPr>
          <a:xfrm>
            <a:off x="6263640" y="4370832"/>
            <a:ext cx="118872" cy="118872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56" name="Text 46"/>
          <p:cNvSpPr/>
          <p:nvPr/>
        </p:nvSpPr>
        <p:spPr>
          <a:xfrm>
            <a:off x="6455664" y="43159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awareness for Kharif / Rabi crops</a:t>
            </a:r>
            <a:endParaRPr lang="en-US" sz="950" dirty="0"/>
          </a:p>
        </p:txBody>
      </p:sp>
      <p:sp>
        <p:nvSpPr>
          <p:cNvPr id="57" name="Shape 4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8" name="Text 4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 Kisan Mitra — Empowering Every Farmer with AI  🌾</a:t>
            </a:r>
            <a:endParaRPr lang="en-US" sz="1300" dirty="0"/>
          </a:p>
        </p:txBody>
      </p:sp>
      <p:sp>
        <p:nvSpPr>
          <p:cNvPr id="59" name="Text 49"/>
          <p:cNvSpPr/>
          <p:nvPr/>
        </p:nvSpPr>
        <p:spPr>
          <a:xfrm>
            <a:off x="8686800" y="45720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Kisan Mitra — AIoT Crop Recommendation System</dc:title>
  <dc:subject>PptxGenJS Presentation</dc:subject>
  <dc:creator>PptxGenJS</dc:creator>
  <cp:lastModifiedBy>PptxGenJS</cp:lastModifiedBy>
  <cp:revision>1</cp:revision>
  <dcterms:created xsi:type="dcterms:W3CDTF">2026-04-13T19:19:37Z</dcterms:created>
  <dcterms:modified xsi:type="dcterms:W3CDTF">2026-04-13T19:19:37Z</dcterms:modified>
</cp:coreProperties>
</file>